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73152" cy="50886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54864"/>
            <a:ext cx="2560320" cy="5088636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54864"/>
            <a:ext cx="36576" cy="50886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 | 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 Intelligence Platform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5852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DISE-native intelligent finance platform that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disaggregates, discloses, and governs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expense data for SEC-mandated reporting.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109728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0" y="10972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30,000+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766560" y="157276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ECC clients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DISE by 2027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49440" y="2148840"/>
            <a:ext cx="18288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0" y="23774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$13.7M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766560" y="285292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cost per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100 (5yr)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49440" y="3429000"/>
            <a:ext cx="182880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6576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Jan 2027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66560" y="4133088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compliance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— fixed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Intelligence Platform  |  Confidential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ASU 2024-03 creates a $13.7M problem for every Fortune 100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20040" y="13258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325880"/>
            <a:ext cx="26974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087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accounts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2578608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income statement account must be individually mapped to one of 5 DISE natural expense categories — manually, with ASC citations, documented for auditors.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325880"/>
            <a:ext cx="26974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5087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hrs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00400" y="21945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quarter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64992" y="2578608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aggregation, reconciliation to the IS face, footnote drafting, and auditor evidence package — repeated every single reporting period.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80760" y="1325880"/>
            <a:ext cx="26974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325880"/>
            <a:ext cx="269748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15087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$2M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080760" y="21945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audit fees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45352" y="2578608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4 firms charge $800K–$2M in year one to validate DISE methodology. Without automation, this cost never goes away.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4617720"/>
            <a:ext cx="850392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6360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SAP's own DISE module requires S/4HANA — leaving 60–70% of large enterprise SAP customers without a native solution before the 2027 deadline.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Intelligence Platform  |  Confidential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GL mapping layer. Every disclosure. Built on infrastructure you already own.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80160"/>
            <a:ext cx="1463040" cy="10515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38988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ECC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S/4HANA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975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819656" y="1805940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984248" y="1280160"/>
            <a:ext cx="1463040" cy="105156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84248" y="138988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84248" y="1975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CDC replication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83864" y="1805940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648456" y="1280160"/>
            <a:ext cx="146304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48456" y="138988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Mapping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48456" y="1975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layer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148072" y="1805940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12664" y="1280160"/>
            <a:ext cx="1463040" cy="1051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12664" y="138988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 Pivot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Trail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12664" y="1975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1F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engine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812280" y="1805940"/>
            <a:ext cx="128016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76872" y="1280160"/>
            <a:ext cx="1463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76872" y="1389888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76872" y="197510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drafting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560320"/>
            <a:ext cx="20848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560320"/>
            <a:ext cx="64008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" y="27249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 footnote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6344" y="310896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220-40 tabular disclosure in formal 10-K language — generated in under 60 seconds from source SAP journal entries.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532888" y="2560320"/>
            <a:ext cx="20848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532888" y="2560320"/>
            <a:ext cx="64008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9192" y="27249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4-link audit trail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79192" y="310896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disclosed dollar traceable to an individual SAP document number. Auditors run queries themselves — no workpapers needed.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45736" y="2560320"/>
            <a:ext cx="20848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45736" y="2560320"/>
            <a:ext cx="64008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27249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CFO alerts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92040" y="310896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anomaly detection fires the day an unusual expense posts — 90 days before manual close would catch it.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58584" y="2560320"/>
            <a:ext cx="2084832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58584" y="2560320"/>
            <a:ext cx="64008" cy="2331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04888" y="2724912"/>
            <a:ext cx="1874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Q&amp;A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104888" y="3108960"/>
            <a:ext cx="1874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CFOs ask financial questions in plain English. Claude generates BigQuery SQL, returns live results from SAP data.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Intelligence Platform  |  Confidential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proof of concept — live SAP data, real disclosures, working audit trail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51206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3716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been validated today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8366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82880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ECC data replicated via Cortex Framework to BigQuery — live environment, real transactions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26771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1284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GL accounts mapped to 5 DISE categories with ASC citations — validated against FY2023 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651760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596896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 pivot query producing mathematically reconciled five-category disclosure — $38M total expenses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035808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Four-link audit trail tracing $2.2M employee compensation to individual SAP document numbers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419856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64992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generating formal ASC 220-40 footnote text from structured BigQuery output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3803904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74904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identifying August 2023 SG&amp;A spike — $1.5M above norm — day of occurrence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18795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33088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Q&amp;A answering CFO-level questions from live SAP data in plain English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23560" y="1234440"/>
            <a:ext cx="1600200" cy="160020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23560" y="14630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$38M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623560" y="2103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expenses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disclosed from live data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60920" y="1234440"/>
            <a:ext cx="1600200" cy="160020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60920" y="14630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247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360920" y="21031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journal entries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in audit demo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3063240"/>
            <a:ext cx="1600200" cy="160020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623560" y="32918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60s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623560" y="3931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generate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 footnote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60920" y="3063240"/>
            <a:ext cx="1600200" cy="160020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60920" y="329184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7360920" y="393192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tools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validated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Intelligence Platform  |  Confidential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$5B+ addressable market with a mandatory deadline and no dominant solution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8229600" cy="877824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325880"/>
            <a:ext cx="4526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1627632"/>
            <a:ext cx="51023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US-listed public companies on SAP — all require DISE disclosure by January 2027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178040" y="128930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6,000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178040" y="170992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234440" y="2240280"/>
            <a:ext cx="6400800" cy="877824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99032" y="23317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99032" y="2633472"/>
            <a:ext cx="3968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 SAP ECC + multi-ERP companies with no native SAP DISE module available before 2027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63640" y="229514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63640" y="271576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48840" y="3246120"/>
            <a:ext cx="4572000" cy="877824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13432" y="333756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target market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13432" y="363931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mid-market SAP ECC clients, $500M–$5B revenue, single ERP, US-listed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49240" y="3300984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349240" y="37216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617720"/>
            <a:ext cx="2084832" cy="4297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" y="46360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30,000+ </a:t>
            </a:r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ECC large enterprise customers globally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32888" y="4617720"/>
            <a:ext cx="2084832" cy="4297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42616" y="46360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 </a:t>
            </a:r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SEC deadline — no extension possible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45736" y="4617720"/>
            <a:ext cx="2084832" cy="4297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55464" y="46360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$400–900/hr </a:t>
            </a:r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4 audit rates for DISE methodology testing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58584" y="4617720"/>
            <a:ext cx="2084832" cy="42976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68312" y="46360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</a:t>
            </a:r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DISE-native platforms in market today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Intelligence Platform  |  Confidential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phases. One compounding platform.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8412480" cy="5486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078992"/>
            <a:ext cx="182880" cy="1828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325880"/>
            <a:ext cx="2084832" cy="352044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25880"/>
            <a:ext cx="208483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4447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1463040"/>
            <a:ext cx="512064" cy="228600"/>
          </a:xfrm>
          <a:prstGeom prst="rect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29768" y="176479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→ Month 4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29768" y="2029968"/>
            <a:ext cx="18745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" y="20756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ACV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9768" y="228600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$80K–$150K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269748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 compliance generator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172968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3081528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Four-link audit trail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557016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" y="3465576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alert system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941064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" y="3849624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Q&amp;A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325112"/>
            <a:ext cx="128016" cy="12801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" y="4233672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01568" y="1078992"/>
            <a:ext cx="182880" cy="182880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32888" y="1325880"/>
            <a:ext cx="208483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532888" y="1325880"/>
            <a:ext cx="2084832" cy="54864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42616" y="14447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642616" y="176479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4–8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642616" y="2029968"/>
            <a:ext cx="18745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42616" y="20756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ACV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642616" y="228600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$200K–$400K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670048" y="2788920"/>
            <a:ext cx="128016" cy="128016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62072" y="269748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reporting ASC 280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670048" y="3172968"/>
            <a:ext cx="128016" cy="128016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62072" y="3081528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tax ASC 740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70048" y="3557016"/>
            <a:ext cx="128016" cy="128016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62072" y="3465576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disclosure ASC 842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670048" y="3941064"/>
            <a:ext cx="128016" cy="128016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62072" y="3849624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 climate cost disclosure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670048" y="4325112"/>
            <a:ext cx="128016" cy="128016"/>
          </a:xfrm>
          <a:prstGeom prst="ellipse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62072" y="4233672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Cross-client benchmarking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614416" y="1078992"/>
            <a:ext cx="182880" cy="1828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45736" y="1325880"/>
            <a:ext cx="208483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45736" y="1325880"/>
            <a:ext cx="2084832" cy="5486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55464" y="14447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4855464" y="176479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8–14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55464" y="2029968"/>
            <a:ext cx="18745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55464" y="20756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ACV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855464" y="228600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$400K–$800K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882896" y="2788920"/>
            <a:ext cx="128016" cy="12801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074920" y="269748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journal automation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882896" y="3172968"/>
            <a:ext cx="128016" cy="12801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74920" y="3081528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reconciliation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82896" y="3557016"/>
            <a:ext cx="128016" cy="12801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74920" y="3465576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close package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82896" y="3941064"/>
            <a:ext cx="128016" cy="12801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74920" y="3849624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controls monitoring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827264" y="1078992"/>
            <a:ext cx="182880" cy="18288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58584" y="1325880"/>
            <a:ext cx="208483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958584" y="1325880"/>
            <a:ext cx="2084832" cy="5486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68312" y="144475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7068312" y="1764792"/>
            <a:ext cx="1874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14–20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068312" y="2029968"/>
            <a:ext cx="187452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68312" y="20756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ACV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068312" y="2286000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$800K–$2M+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7095744" y="2788920"/>
            <a:ext cx="128016" cy="128016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287768" y="2697480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scenario modelling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7095744" y="3172968"/>
            <a:ext cx="128016" cy="128016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287768" y="3081528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expense tracking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095744" y="3557016"/>
            <a:ext cx="128016" cy="128016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287768" y="3465576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network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095744" y="3941064"/>
            <a:ext cx="128016" cy="128016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87768" y="3849624"/>
            <a:ext cx="16642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evidence platform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Intelligence Platform  |  Confidential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occupy the gap that SAP, Workiva, and KPMG all leave open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3774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2344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97480" y="1234440"/>
            <a:ext cx="150876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70632" y="12344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Intelligence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06240" y="1234440"/>
            <a:ext cx="15087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79392" y="12344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DISE module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15000" y="1234440"/>
            <a:ext cx="15087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88152" y="12344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Workiva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23760" y="1234440"/>
            <a:ext cx="150876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96912" y="12344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Value Search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618488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61848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SAP ECC (no S/4HANA migration)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697480" y="1618488"/>
            <a:ext cx="1508760" cy="36576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16184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06240" y="161848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16184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715000" y="161848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16184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223760" y="161848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6184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20040" y="1984248"/>
            <a:ext cx="23774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19842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Multi-ERP consolidation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697480" y="1984248"/>
            <a:ext cx="1508760" cy="365760"/>
          </a:xfrm>
          <a:prstGeom prst="rect">
            <a:avLst/>
          </a:prstGeom>
          <a:solidFill>
            <a:srgbClr val="D1FA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97480" y="19842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206240" y="198424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19842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715000" y="198424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19842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7223760" y="198424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19842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20040" y="2350008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3500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GL-level DISE audit trail to journal entry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697480" y="2350008"/>
            <a:ext cx="1508760" cy="36576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97480" y="235000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206240" y="235000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6240" y="235000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5715000" y="235000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15000" y="235000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223760" y="235000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23760" y="235000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320040" y="2715768"/>
            <a:ext cx="23774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271576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narrative AI (Claude)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697480" y="2715768"/>
            <a:ext cx="1508760" cy="365760"/>
          </a:xfrm>
          <a:prstGeom prst="rect">
            <a:avLst/>
          </a:prstGeom>
          <a:solidFill>
            <a:srgbClr val="D1FA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97480" y="27157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206240" y="271576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6240" y="27157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5715000" y="271576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15000" y="27157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7223760" y="271576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23760" y="27157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320040" y="3081528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30815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SEC disclosure filing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697480" y="3081528"/>
            <a:ext cx="1508760" cy="36576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97480" y="30815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4206240" y="308152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6240" y="30815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5715000" y="308152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15000" y="30815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7223760" y="308152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23760" y="30815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320040" y="3447288"/>
            <a:ext cx="23774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344728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 → SAP ERP data pipeline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697480" y="3447288"/>
            <a:ext cx="1508760" cy="365760"/>
          </a:xfrm>
          <a:prstGeom prst="rect">
            <a:avLst/>
          </a:prstGeom>
          <a:solidFill>
            <a:srgbClr val="D1FA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97480" y="34472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4206240" y="344728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06240" y="34472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5715000" y="344728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715000" y="34472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74" name="Shape 72"/>
          <p:cNvSpPr/>
          <p:nvPr/>
        </p:nvSpPr>
        <p:spPr>
          <a:xfrm>
            <a:off x="7223760" y="344728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23760" y="344728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320040" y="3813048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11480" y="38130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anomaly CFO alerting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697480" y="3813048"/>
            <a:ext cx="1508760" cy="36576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697480" y="38130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4206240" y="381304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06240" y="38130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5715000" y="381304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715000" y="38130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7223760" y="381304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223760" y="381304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320040" y="4178808"/>
            <a:ext cx="237744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11480" y="41788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client's own GCP infrastructure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2697480" y="4178808"/>
            <a:ext cx="1508760" cy="365760"/>
          </a:xfrm>
          <a:prstGeom prst="rect">
            <a:avLst/>
          </a:prstGeom>
          <a:solidFill>
            <a:srgbClr val="D1FAF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697480" y="417880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4206240" y="417880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206240" y="417880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5715000" y="417880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715000" y="417880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7223760" y="4178808"/>
            <a:ext cx="150876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223760" y="417880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320040" y="4544568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11480" y="454456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before 2027 deadline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2697480" y="4544568"/>
            <a:ext cx="1508760" cy="365760"/>
          </a:xfrm>
          <a:prstGeom prst="rect">
            <a:avLst/>
          </a:prstGeom>
          <a:solidFill>
            <a:srgbClr val="E6F7F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697480" y="45445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4206240" y="454456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206240" y="45445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400" dirty="0"/>
          </a:p>
        </p:txBody>
      </p:sp>
      <p:sp>
        <p:nvSpPr>
          <p:cNvPr id="102" name="Shape 100"/>
          <p:cNvSpPr/>
          <p:nvPr/>
        </p:nvSpPr>
        <p:spPr>
          <a:xfrm>
            <a:off x="5715000" y="454456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715000" y="45445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4" name="Shape 102"/>
          <p:cNvSpPr/>
          <p:nvPr/>
        </p:nvSpPr>
        <p:spPr>
          <a:xfrm>
            <a:off x="7223760" y="4544568"/>
            <a:ext cx="1508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223760" y="454456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6" name="Text 104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Intelligence Platform  |  Confidential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subscription + implementation + advisory. $34M–$49M cumulative 5-year ARR.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61872"/>
          <a:ext cx="8503920" cy="2423160"/>
        </p:xfrm>
        <a:graphic>
          <a:graphicData uri="http://schemas.openxmlformats.org/drawingml/2006/table">
            <a:tbl>
              <a:tblPr/>
              <a:tblGrid>
                <a:gridCol w="2560320"/>
                <a:gridCol w="822960"/>
                <a:gridCol w="914400"/>
                <a:gridCol w="1645920"/>
                <a:gridCol w="1005840"/>
                <a:gridCol w="1554480"/>
              </a:tblGrid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ACV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 ARR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Impl. fees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2044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 — DISE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$360K–$600K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$560K–$800K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 — Multi-disclosure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$2M–$3M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$2.5M–$3.5M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 — Autonomous close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$7.5M–$10M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$875K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$8.4M–$10.9M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9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4 — Full 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25–35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$22.5M–$31.5M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$1.5M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$24M–$33M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5-year cumulative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$34M–$49M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3822192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20040" y="3822192"/>
            <a:ext cx="26974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29768" y="3931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ARR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29768" y="4233672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platform license. $80K–$2M per client depending on company size, ERP complexity, and modules deployed. 85%+ gross margin at scale.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0" y="3822192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A529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0" y="3822192"/>
            <a:ext cx="2697480" cy="54864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10128" y="3931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52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fees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10128" y="4233672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professional services. GL mapping, BigQuery config, finance team training. $25K–$300K per client. Self-funding early development.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80760" y="3822192"/>
            <a:ext cx="26974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20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80760" y="3822192"/>
            <a:ext cx="2697480" cy="54864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190488" y="3931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revenue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90488" y="4233672"/>
            <a:ext cx="24871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transaction support, new disclosure frameworks, Big 4 audit access licensing. $50K–$200K per engagement. Episodic but high-margin.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Intelligence Platform  |  Confidential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1206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structural advantages that compound with every client added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441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mapping 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" y="1984248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client's gl_dise_mapping table is your IP in their environment. ASC citations, category decisions, methodology docs — all accepted by auditors. Switching means rebuilding the entire mapping from scratch.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2344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234440"/>
            <a:ext cx="64008" cy="1737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3441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64992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acceptance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64992" y="1984248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Big 4 auditors accept your audit trail at one client, it creates a precedent. Other auditors at the same firm follow. Early acceptance at 3–5 major clients creates a reference standard competitors cannot displace.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123444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1234440"/>
            <a:ext cx="64008" cy="173736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5352" y="134416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52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45352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Multi-ERP position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45352" y="1984248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builds for S/4HANA. Oracle builds for Fusion. Nobody builds cross-ERP consolidation. Your BigQuery layer sits above all source systems — the only viable single solution for multi-ERP enterprises.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32004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3200400"/>
            <a:ext cx="64008" cy="1737360"/>
          </a:xfrm>
          <a:prstGeom prst="rect">
            <a:avLst/>
          </a:prstGeom>
          <a:solidFill>
            <a:srgbClr val="2A5298"/>
          </a:solidFill>
          <a:ln w="12700">
            <a:solidFill>
              <a:srgbClr val="2A529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33101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52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64992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data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64992" y="3950208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DISE expense ratios across client base. At 10 clients: interesting. At 100 clients: the most comprehensive DISE database in existence. Classic data network effect — stronger with every client added.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897880" y="3200400"/>
            <a:ext cx="26974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897880" y="3200400"/>
            <a:ext cx="64008" cy="17373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62472" y="33101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20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62472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urgency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62472" y="3950208"/>
            <a:ext cx="24140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2027 is fixed. Every month that passes makes desperate clients more willing to adopt a proven solution. Companies that adopt now are locked in before SAP's module arrives. The window is 18–24 months.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Intelligence Platform  |  Confidential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73152" cy="50886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54864"/>
            <a:ext cx="2560320" cy="5088636"/>
          </a:xfrm>
          <a:prstGeom prst="rect">
            <a:avLst/>
          </a:prstGeom>
          <a:solidFill>
            <a:srgbClr val="112244"/>
          </a:solidFill>
          <a:ln w="12700">
            <a:solidFill>
              <a:srgbClr val="1122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54864"/>
            <a:ext cx="36576" cy="50886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12700">
            <a:solidFill>
              <a:srgbClr val="E6F7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475488"/>
            <a:ext cx="5943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Seeking $1.5M seed round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457200" y="1024128"/>
            <a:ext cx="128016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43000"/>
            <a:ext cx="5943600" cy="676656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143000"/>
            <a:ext cx="5486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17957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$600K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94360" y="1508760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1188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148132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developer + part-time SAP consultant for production hardening and Phase 2 multi-disclosure modules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1901952"/>
            <a:ext cx="5943600" cy="676656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1901952"/>
            <a:ext cx="5486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193852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$450K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2267712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08760" y="19476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first clients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08760" y="22402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3–5 design partner engagements, demo infrastructure, pilot client implementation fees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2660904"/>
            <a:ext cx="5943600" cy="676656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660904"/>
            <a:ext cx="5486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6974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$300K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4360" y="302666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508760" y="27066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08760" y="299923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 filings, enterprise contract templates, IP protection, SOC 2 Type II certification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419856"/>
            <a:ext cx="5943600" cy="676656"/>
          </a:xfrm>
          <a:prstGeom prst="rect">
            <a:avLst/>
          </a:prstGeom>
          <a:solidFill>
            <a:srgbClr val="11224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419856"/>
            <a:ext cx="54864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45643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$150K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94360" y="3785616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8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508760" y="346557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reserve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08760" y="375818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A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infrastructure, API costs, professional services, working capital buffer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720840" y="594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milestones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48272" y="1161288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7728" y="10241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paying design partners live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48272" y="1874520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67728" y="173736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multi-disclosure modules shipped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748272" y="2587752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67728" y="245059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$2.5M–$3.5M ARR reached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748272" y="3300984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67728" y="3163824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raise from position of traction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48272" y="4014216"/>
            <a:ext cx="146304" cy="146304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67728" y="3877056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B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4 audit acceptance at 2+ clients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4663440"/>
            <a:ext cx="6126480" cy="384048"/>
          </a:xfrm>
          <a:prstGeom prst="rect">
            <a:avLst/>
          </a:prstGeom>
          <a:solidFill>
            <a:srgbClr val="0D22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4681728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GL intelligence layer every Fortune 500 on SAP needs to comply with four converging SEC disclosure mandates by 2027 — and nobody else has it."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65760" y="48920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 Intelligence Platform  |  Confidential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 Intelligence Platform — Investor Deck</dc:title>
  <dc:subject>PptxGenJS Presentation</dc:subject>
  <dc:creator>PptxGenJS</dc:creator>
  <cp:lastModifiedBy>PptxGenJS</cp:lastModifiedBy>
  <cp:revision>1</cp:revision>
  <dcterms:created xsi:type="dcterms:W3CDTF">2026-03-16T00:30:54Z</dcterms:created>
  <dcterms:modified xsi:type="dcterms:W3CDTF">2026-03-16T00:30:54Z</dcterms:modified>
</cp:coreProperties>
</file>